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OFFICIAL LINE DESIGN GUIDE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エルメで作る、キャリサポ式LINE運用術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1097280" cy="54864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DFAF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DM → LINE登録 → ステップ配信 → 個別相談 → 成約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DFAF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問い合わせを最大化する自動化フロー、完全公開。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solidFill>
            <a:srgbClr val="0D4F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📘 全20スライド</a:t>
            </a:r>
            <a:pPr algn="ctr" indent="0" marL="0">
              <a:buNone/>
            </a:pPr>
            <a:r>
              <a:rPr lang="en-US" sz="1400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| 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🎯 初心者OK</a:t>
            </a:r>
            <a:pPr algn="ctr" indent="0" marL="0">
              <a:buNone/>
            </a:pPr>
            <a:r>
              <a:rPr lang="en-US" sz="1400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| 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💰 月額0円スタート可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AGENDA / 目次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このガイドで学べること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LINE登録者をファンに変え、自動で問い合わせを生む仕組み。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5486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182880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92024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なぜ公式LINEなのか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2926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SNSやメルマガを超える理由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5486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011680"/>
            <a:ext cx="109728" cy="182880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77240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エルメ完全入門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0" y="2926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無料で始める拡張ツール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14800"/>
            <a:ext cx="109728" cy="182880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43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920240" y="4434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最強の構築フロー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920240" y="5029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ウェルカム〜ステップ配信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4114800"/>
            <a:ext cx="5486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114800"/>
            <a:ext cx="109728" cy="182880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343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772400" y="4434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成果を出すコツ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772400" y="5029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KPI・改善・実践ロードマップ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Chapter 1 — なぜ公式LINEなのか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= 最強の顧客接点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657600" cy="22860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45920"/>
            <a:ext cx="3657600" cy="914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98%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LINEメッセージ開封率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メルマガ平均20%の約5倍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645920"/>
            <a:ext cx="3657600" cy="22860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645920"/>
            <a:ext cx="3657600" cy="914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60%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3891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24時間以内既読率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他SNSと比べ圧倒的に高速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1645920"/>
            <a:ext cx="3657600" cy="22860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1645920"/>
            <a:ext cx="3657600" cy="914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9,500万人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3210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国内アクティブユーザー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ほぼ全世代が使用中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97680"/>
            <a:ext cx="109728" cy="201168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434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つまり、LINEは「届く・読まれる・反応される」唯一のチャネル。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50292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Threads/Instagramの投稿はタイムラインで流れていくが、LINEは1対1で必ず届く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メルマガと違い、開封されないリスクが圧倒的に低い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リッチメニュー・自動応答・タグ管理まで全部できる「ミニWebサイト」になる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現状の失敗パターン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こんな運用、していませんか?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登録者は集めても、ほとんどが活かされていない現実。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3444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ウェルカム1通だけ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登録直後の関係構築チャンスを逃している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19659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ステップ配信ゼロ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登録者を放置 → 興味が冷めて離脱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9659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09828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情報を一気に詰め込み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1通が長すぎて読まれない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23444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CTAが弱い・ない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「で、何をすればいいの?」状態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4160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16636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リッチメニューが装飾だけ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50292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タップ後の動線が設計されていない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4160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039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09828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全員に同じ配信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50292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属性別の最適化ができていない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Chapter 2 — エルメ完全入門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エルメ(L-Message)とは?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6692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45920"/>
            <a:ext cx="5669280" cy="5486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公式LINEの拡張ツール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公式LINE本体だけでは、単発配信や簡単なあいさつしかできません。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エルメを連携することで...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時間差配信(30秒後/1分後/3日後)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7日間ステップ配信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ユーザーへのタグ付け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タグ別シナリオ分岐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予約システム・フォーム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流入経路分析
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5303520" cy="475488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構造イメージ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2377440"/>
            <a:ext cx="4206240" cy="91440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公式LINE(本体・無料)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友だち・配信機能・リッチメニュー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949440" y="3840480"/>
            <a:ext cx="4206240" cy="91440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エルメ(拡張・無料〜)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ステップ配信・タグ・分岐・予約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↓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949440" y="5303520"/>
            <a:ext cx="4206240" cy="8229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5303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最強の自動化LINE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ツール比較 — どれを選ぶべきか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公式LINE単体 vs エルメ vs Lステップ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機能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公式LINE単体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エルメ(無料〜)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C7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Lステップ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月額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0円〜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C7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0円〜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2,980円〜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ステップ配信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△ 簡易のみ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C7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◎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◎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時間差配信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3946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✗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C7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◎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◎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タグ管理・分岐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3946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✗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C7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◎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◎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予約システム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3946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✗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C7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◎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◎</a:t>
                      </a:r>
                      <a:endParaRPr lang="en-US" sz="18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操作の難易度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簡単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C7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簡単(直感的)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やや難しい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おすすめ規模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〜50人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C7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50〜1500人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1500人〜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👉 初心者・登録者〜1500人なら エルメ(無料〜) が圧倒的におすすめ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エルメの主要機能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エルメで自動化できる8つのこと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2697480" cy="73152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⏱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時間差配信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30秒・1分・1時間後の自動送信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64992" y="16916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691640"/>
            <a:ext cx="2697480" cy="73152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📅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64992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02152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登録◯日後に自動でメッセージ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16916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691640"/>
            <a:ext cx="2697480" cy="73152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🏷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72784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タグ付け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9944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ユーザーを属性別に自動分類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0576" y="169164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0576" y="1691640"/>
            <a:ext cx="2697480" cy="73152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1965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🔀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180576" y="2651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シナリオ分岐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17736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タグ別に違うメッセージを配信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023360"/>
            <a:ext cx="2697480" cy="73152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97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📋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457200" y="4983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6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アンケート・申込フォーム作成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64992" y="402336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64992" y="4023360"/>
            <a:ext cx="2697480" cy="73152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4297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📆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3364992" y="4983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予約システム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502152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面談予約のカレンダー連携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2784" y="402336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72784" y="4023360"/>
            <a:ext cx="2697480" cy="73152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4297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📊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6272784" y="4983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流入分析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9944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どこから来たかを計測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80576" y="4023360"/>
            <a:ext cx="26974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180576" y="4023360"/>
            <a:ext cx="2697480" cy="73152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80576" y="4297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🎯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9180576" y="4983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セグメント配信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317736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条件に合う人だけに送信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エルメ料金プラン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無料から始められる、明朗な料金体系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371600" y="1508760"/>
            <a:ext cx="1828800" cy="32004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⭐ おすすめ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3657600" cy="4480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6C7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91640"/>
            <a:ext cx="3657600" cy="91440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フリー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0円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 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月1,000通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登録者〜100人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09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基本機能すべて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タグ・分岐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リッチメニュー連携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89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691640"/>
            <a:ext cx="3657600" cy="91440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スタンダード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8912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10,780円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3891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 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月15,000通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登録者〜1,500人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57200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709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フリーの全機能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高度な分析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API連携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優先サポート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1691640"/>
            <a:ext cx="36576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32104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33,000円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3210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 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無制限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登録者〜5,000人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778240" y="457200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4709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スタンダードの全機能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無制限配信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専任サポート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カスタム対応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登録者39名のキャリサポは「フリープラン」で十分。月額0円で全機能使えます。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エルメ導入ステップ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30分で完了する導入手順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028700" y="2514600"/>
            <a:ext cx="0" cy="137160"/>
          </a:xfrm>
          <a:prstGeom prst="line">
            <a:avLst/>
          </a:prstGeom>
          <a:noFill/>
          <a:ln w="25400">
            <a:solidFill>
              <a:srgbClr val="06C75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691640" y="1737360"/>
            <a:ext cx="10012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91640" y="1737360"/>
            <a:ext cx="91440" cy="7772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1901952"/>
            <a:ext cx="1005840" cy="41148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19019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エルメ無料登録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8960" y="2148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lme.jp にアクセス → メールアドレスで登録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65176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028700" y="3429000"/>
            <a:ext cx="0" cy="137160"/>
          </a:xfrm>
          <a:prstGeom prst="line">
            <a:avLst/>
          </a:prstGeom>
          <a:noFill/>
          <a:ln w="25400">
            <a:solidFill>
              <a:srgbClr val="06C75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691640" y="2651760"/>
            <a:ext cx="10012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91640" y="2651760"/>
            <a:ext cx="91440" cy="7772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2816352"/>
            <a:ext cx="1005840" cy="41148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28163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公式LINEと連携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08960" y="3063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Developersで認証ボタンをポチッと押すだけ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56616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1028700" y="4343400"/>
            <a:ext cx="0" cy="137160"/>
          </a:xfrm>
          <a:prstGeom prst="line">
            <a:avLst/>
          </a:prstGeom>
          <a:noFill/>
          <a:ln w="25400">
            <a:solidFill>
              <a:srgbClr val="06C75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691640" y="3566160"/>
            <a:ext cx="10012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691640" y="3566160"/>
            <a:ext cx="91440" cy="7772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3730752"/>
            <a:ext cx="1005840" cy="41148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37307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089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管理画面を触ってみる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108960" y="3977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壊れないので、まず触って慣れる(チュートリアル動画あり)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448056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" y="4480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1028700" y="5257800"/>
            <a:ext cx="0" cy="137160"/>
          </a:xfrm>
          <a:prstGeom prst="line">
            <a:avLst/>
          </a:prstGeom>
          <a:noFill/>
          <a:ln w="25400">
            <a:solidFill>
              <a:srgbClr val="06C755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691640" y="4480560"/>
            <a:ext cx="10012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691640" y="4480560"/>
            <a:ext cx="91440" cy="7772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4645152"/>
            <a:ext cx="1005840" cy="41148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46451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10分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1089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ウェルカム配信を作る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108960" y="48920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ステップ配信メニューから3通分割を設定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" y="539496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0080" y="5394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1691640" y="5394960"/>
            <a:ext cx="10012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691640" y="5394960"/>
            <a:ext cx="91440" cy="7772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5559552"/>
            <a:ext cx="1005840" cy="41148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20240" y="55595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テスト送信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108960" y="5486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自分で受信確認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108960" y="5806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本番有効化前に必ずテスト送信して動作チェック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Chapter 3 — 最強の構築フロー全体図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 → 登録 → 教育 → 成約までの完全フロー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2157984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89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28800"/>
            <a:ext cx="2157984" cy="64008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①集客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Threads発信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DM送信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15184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98064" y="1828800"/>
            <a:ext cx="2157984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C7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98064" y="1828800"/>
            <a:ext cx="2157984" cy="64008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18288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②登録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80944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LINE友だち追加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100万円特典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38928" y="1828800"/>
            <a:ext cx="2157984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C79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38928" y="1828800"/>
            <a:ext cx="2157984" cy="64008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18288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③教育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ウェルカム3通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7日間ステップ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96912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79792" y="1828800"/>
            <a:ext cx="2157984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85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79792" y="1828800"/>
            <a:ext cx="2157984" cy="64008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18288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④CV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62672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無料診断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37776" y="3017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20656" y="1828800"/>
            <a:ext cx="2157984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20656" y="1828800"/>
            <a:ext cx="2157984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0656" y="18288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⑤成約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03536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Zoom相談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サービス契約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937760"/>
            <a:ext cx="109728" cy="146304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074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🎯 各ステップでKPIを設定し、ボトルネックを特定して改善し続けるのが成功の鍵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77240" y="5532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集客→登録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10〜15%   |   </a:t>
            </a:r>
            <a:pPr indent="0" marL="0">
              <a:buNone/>
            </a:pPr>
            <a:r>
              <a:rPr lang="en-US" sz="13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登録→面談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15〜20%   |   </a:t>
            </a:r>
            <a:pPr indent="0" marL="0">
              <a:buNone/>
            </a:pPr>
            <a:r>
              <a:rPr lang="en-US" sz="13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面談→成約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30〜40%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7240" y="5943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DFAF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これが上位プレイヤーの目安数値。下回るステップが改善ポイント。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ウェルカム配信の設計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登録直後の3分割配信がCV率を3倍にする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情報を1通に詰めず、時間差で「読みやすく・行動しやすく」分割するのがポイント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3657600" cy="10058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登録直後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MESSAGE 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歓迎+特典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返報性のフック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02336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個人名で挨拶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特典の即受け渡し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リッチメニュー誘導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192024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920240"/>
            <a:ext cx="3657600" cy="100584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30秒後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MESSAGE 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8912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サービス紹介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3891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教育(価値提示)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402336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2062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4サービスの簡潔説明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473万円実績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ベネフィット中心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21040" y="192024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1920240"/>
            <a:ext cx="3657600" cy="100584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1分後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MESSAGE 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2104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1タップCTA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210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コンバージョン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78240" y="402336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2062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「無料診断」ボタン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1タップで完結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押しすぎない一言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7日間ステップ配信シナリオ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登録者を「ファン」に育てる7日間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放置されがちな登録者を、配信で温め続けて自然な相談申込に導く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28800"/>
            <a:ext cx="2697480" cy="45720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 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ウェルカム+特典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歓迎・100万円手順書を即渡す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64992" y="182880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64992" y="1828800"/>
            <a:ext cx="2697480" cy="45720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02152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事例ストーリー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02152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「473万円受給した30代の話」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2784" y="182880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1828800"/>
            <a:ext cx="2697480" cy="45720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 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退職サポート紹介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9944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失業保険の落とし穴を解説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0576" y="182880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80576" y="1828800"/>
            <a:ext cx="2697480" cy="45720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0576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17736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学習サポート紹介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17736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月3万もらいながら学ぶ仕組み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023360"/>
            <a:ext cx="2697480" cy="45720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 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4663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転職サポート紹介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4360" y="5212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実績アドバイザー+30万お祝い金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64992" y="402336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64992" y="4023360"/>
            <a:ext cx="2697480" cy="45720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 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02152" y="4663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AIリスキリング紹介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502152" y="5212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48万円が0円になる理由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2784" y="402336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72784" y="4023360"/>
            <a:ext cx="269748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 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9944" y="4663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🎯 無料相談案内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9944" y="5212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最重要CTA・面談予約フォーム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80576" y="402336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180576" y="4023360"/>
            <a:ext cx="269748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80576" y="4023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Day 7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317736" y="4663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FAQ+再CTA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317736" y="5212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よくある質問+ラスト後押し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リッチメニュー設計の鉄則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 = LINEのトップページ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登録者が毎回見る場所。「6つの導線」で迷わせない設計を。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4937760" cy="466344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理想のリッチメニュー(6枠)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240280"/>
            <a:ext cx="1493520" cy="187452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9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キャリサポ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70760" y="2240280"/>
            <a:ext cx="1493520" cy="187452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70760" y="2240280"/>
            <a:ext cx="149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100万円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手順書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55720" y="2240280"/>
            <a:ext cx="1493520" cy="187452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5720" y="2240280"/>
            <a:ext cx="149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無料診断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206240"/>
            <a:ext cx="1493520" cy="187452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06240"/>
            <a:ext cx="149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70760" y="4206240"/>
            <a:ext cx="1493520" cy="1874520"/>
          </a:xfrm>
          <a:prstGeom prst="rect">
            <a:avLst/>
          </a:prstGeom>
          <a:solidFill>
            <a:srgbClr val="0D4F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70760" y="4206240"/>
            <a:ext cx="149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55720" y="4206240"/>
            <a:ext cx="1493520" cy="18745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5720" y="4206240"/>
            <a:ext cx="149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お客様の声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1920240"/>
            <a:ext cx="5852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1920240"/>
            <a:ext cx="5852160" cy="50292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設計の5原則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35040" y="2651760"/>
            <a:ext cx="411480" cy="41148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2606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「面談」より「診断・相談」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2971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言葉を柔らかくして予約率UP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429000"/>
            <a:ext cx="411480" cy="41148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3383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特典は常に1枠確保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3749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100万円手順書など登録動機を可視化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4206240"/>
            <a:ext cx="411480" cy="41148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83680" y="4160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お客様の声を必ず入れる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0" y="4526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信頼性が一気に上がる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4983480"/>
            <a:ext cx="411480" cy="41148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83680" y="4937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デザインに統一感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83680" y="5303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ブランドカラーで揃える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5760720"/>
            <a:ext cx="411480" cy="41148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583680" y="5715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月1回の更新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83680" y="6080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新特典・季節キャンペーンで飽きさせない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タグ設計でシナリオ分岐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属性別に違うメッセージを送る = 反応率が劇的に変わる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登録者全員に同じ配信は卒業。タグで分けて、その人に刺さる内容を届ける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2286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LINE登録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23360" y="2788920"/>
            <a:ext cx="4114800" cy="54864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Q. 今のご状況を教えてください(タグ取得)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3337560"/>
            <a:ext cx="-4434840" cy="502920"/>
          </a:xfrm>
          <a:prstGeom prst="line">
            <a:avLst/>
          </a:prstGeom>
          <a:noFill/>
          <a:ln w="19050">
            <a:solidFill>
              <a:srgbClr val="1A8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40480"/>
            <a:ext cx="2468880" cy="50292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 会社員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89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退職検討中シナリオ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①退職サポート訴求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337560"/>
            <a:ext cx="-1508760" cy="502920"/>
          </a:xfrm>
          <a:prstGeom prst="line">
            <a:avLst/>
          </a:prstGeom>
          <a:noFill/>
          <a:ln w="19050">
            <a:solidFill>
              <a:srgbClr val="06C7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3840480"/>
            <a:ext cx="2468880" cy="50292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 退職済み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83280" y="44348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失業保険シナリオ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①+②フルコース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337560"/>
            <a:ext cx="1417320" cy="502920"/>
          </a:xfrm>
          <a:prstGeom prst="line">
            <a:avLst/>
          </a:prstGeom>
          <a:noFill/>
          <a:ln w="19050">
            <a:solidFill>
              <a:srgbClr val="16C7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840480"/>
            <a:ext cx="2468880" cy="50292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 主婦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44348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C79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学習支援シナリオ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②+③訴求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3337560"/>
            <a:ext cx="4343400" cy="502920"/>
          </a:xfrm>
          <a:prstGeom prst="line">
            <a:avLst/>
          </a:prstGeom>
          <a:noFill/>
          <a:ln w="19050">
            <a:solidFill>
              <a:srgbClr val="FFC8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0" y="3840480"/>
            <a:ext cx="2468880" cy="50292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 転職希望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235440" y="44348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85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32688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転職シナリオ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③+④訴求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📊 タグ分岐ありの配信は、なし配信に比べて反応率が約2〜3倍に上がるデータあり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Chapter 4 — 反応を上げる7つのコツ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実践者が知っている、成果を出す秘訣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91440" cy="21945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1メッセージ1テーマ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詰め込まない。短く、読みやすく。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64992" y="169164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691640"/>
            <a:ext cx="91440" cy="21945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93592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数字を冒頭に出す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93592" y="3063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「473万円」など具体性で離脱防止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169164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691640"/>
            <a:ext cx="91440" cy="21945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1384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501384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1タップCTA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01384" y="3063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操作は最小限。3ステップは離脱の元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0576" y="169164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0576" y="1691640"/>
            <a:ext cx="91440" cy="21945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09176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409176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個人名で呼びかけ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09176" y="3063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「〇〇様、こんにちは」で開封率UP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069080"/>
            <a:ext cx="91440" cy="21945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5800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絵文字は控えめに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" y="5440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多用はチープ感。1メッセに2〜3個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64992" y="406908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64992" y="4069080"/>
            <a:ext cx="91440" cy="21945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592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3593592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配信時間を最適化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593592" y="5440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12時/19時/21時が反応率高い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2784" y="406908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72784" y="4069080"/>
            <a:ext cx="91440" cy="21945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01384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501384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テスト送信を必ず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501384" y="5440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本番前に自分のLINEで確認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追うべきKPI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数字を見て、改善し続ける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感覚ではなく数値で判断。ボトルネックの特定と改善が成果を最大化する。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15798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2157984" cy="45720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10〜15%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417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7548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DM/投稿閲覧 → LINE登録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98064" y="2011680"/>
            <a:ext cx="215798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98064" y="2011680"/>
            <a:ext cx="2157984" cy="45720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98064" y="2011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STAGE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98064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開封率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98064" y="320040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70%以上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3163824" y="4617720"/>
            <a:ext cx="1417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35224" y="47548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配信メッセージの開封割合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38928" y="2011680"/>
            <a:ext cx="215798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38928" y="2011680"/>
            <a:ext cx="2157984" cy="45720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011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クリック率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38928" y="320040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20〜30%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5504688" y="4617720"/>
            <a:ext cx="1417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47548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CTAボタンのタップ率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79792" y="2011680"/>
            <a:ext cx="215798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79792" y="2011680"/>
            <a:ext cx="2157984" cy="45720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2011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79792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面談予約率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79792" y="320040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15〜20%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7845552" y="4617720"/>
            <a:ext cx="1417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6952" y="47548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登録者→無料相談申込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820656" y="2011680"/>
            <a:ext cx="215798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820656" y="2011680"/>
            <a:ext cx="2157984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0656" y="2011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STAGE 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820656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成約率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820656" y="320040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30〜40%</a:t>
            </a:r>
            <a:endParaRPr lang="en-US" sz="3200" dirty="0"/>
          </a:p>
        </p:txBody>
      </p:sp>
      <p:sp>
        <p:nvSpPr>
          <p:cNvPr id="44" name="Shape 42"/>
          <p:cNvSpPr/>
          <p:nvPr/>
        </p:nvSpPr>
        <p:spPr>
          <a:xfrm>
            <a:off x="10186416" y="4617720"/>
            <a:ext cx="1417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57816" y="47548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面談→契約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1週間ごとに数字を確認し、最も低いステージを集中改善するのが最短ルート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やってはいけないNG例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これをすると一発でブロックされる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5577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5577840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91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❌ NG例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1日に何通も連投する(スパム判定)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毎回同じ売り込み文面を送る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相手の返信を無視して配信を続ける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深夜・早朝に配信する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「絶対稼げる」など断定表現を使う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情報量が多すぎて読まれない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リンクだらけで信頼性が下がる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5577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F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91640"/>
            <a:ext cx="5577840" cy="54864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691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OK例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4231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1日1通以下、ステップ配信で計画的に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テーマを変え、価値ある情報を発信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返信があった人には個別丁寧対応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12時/19時/21時のゴールデンタイム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「〇〇な可能性があります」と謙虚に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1メッセ1テーマ、簡潔に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リンクは1〜2個、必要なものだけ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30日実践ロードマップ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導入から運用安定までの30日プラン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6974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2697480" cy="91440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Week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セットアップ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278892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エルメ無料登録+公式LINE連携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管理画面の使い方を理解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ウェルカム3分割配信を作成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6C7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テスト送信で動作確認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64992" y="1691640"/>
            <a:ext cx="26974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691640"/>
            <a:ext cx="2697480" cy="91440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Week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64992" y="2148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ステップ配信構築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93592" y="278892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7日間ステップ配信を設計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各日のメッセージを執筆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事例・FAQを盛り込む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本番配信スタート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1691640"/>
            <a:ext cx="26974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691640"/>
            <a:ext cx="2697480" cy="91440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Week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2148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リッチメニュー改善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1384" y="278892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リッチメニューを6枠に再設計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面談予約フォーム作成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「お客様の声」セクション追加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LP→LINE導線を強化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0576" y="1691640"/>
            <a:ext cx="26974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0576" y="1691640"/>
            <a:ext cx="2697480" cy="91440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Week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80576" y="2148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改善と最適化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09176" y="2788920"/>
            <a:ext cx="2331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KPIを計測+ボトルネック特定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タグ分岐シナリオを追加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反応の良い配信を分析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88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▸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次月の改善計画を立てる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320040" cy="32004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CARRE SUPPORT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キャリサポ式LINE運用術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 = 6つの要素の掛け算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109728" cy="64008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810512"/>
            <a:ext cx="411480" cy="41148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エルメ導入で時間差・ステップ配信を可能に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109728" cy="64008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587752"/>
            <a:ext cx="411480" cy="411480"/>
          </a:xfrm>
          <a:prstGeom prst="ellipse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468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ウェルカム3分割で読みやすく行動しやすく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46120"/>
            <a:ext cx="109728" cy="640080"/>
          </a:xfrm>
          <a:prstGeom prst="rect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364992"/>
            <a:ext cx="411480" cy="411480"/>
          </a:xfrm>
          <a:prstGeom prst="ellipse">
            <a:avLst/>
          </a:prstGeom>
          <a:solidFill>
            <a:srgbClr val="1A8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246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7日間ステップ配信で関係構築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23360"/>
            <a:ext cx="109728" cy="64008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142232"/>
            <a:ext cx="411480" cy="4114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4023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リッチメニュー6枠で迷わせない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800600"/>
            <a:ext cx="109728" cy="640080"/>
          </a:xfrm>
          <a:prstGeom prst="rect">
            <a:avLst/>
          </a:prstGeom>
          <a:solidFill>
            <a:srgbClr val="0D4F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4919472"/>
            <a:ext cx="411480" cy="411480"/>
          </a:xfrm>
          <a:prstGeom prst="ellipse">
            <a:avLst/>
          </a:prstGeom>
          <a:solidFill>
            <a:srgbClr val="0D4F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919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48006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タグ分岐で個別最適化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5577840"/>
            <a:ext cx="109728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696712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696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7160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KPI計測で改善し続ける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6C7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READY TO START?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今日、最初の30分を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C7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エルメに投資してください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532120" y="3429000"/>
            <a:ext cx="1097280" cy="54864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DFAF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無料で始められて、登録者を確実にファン化できる、唯一の方法です。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0" y="4434840"/>
            <a:ext cx="3931920" cy="914400"/>
          </a:xfrm>
          <a:prstGeom prst="rect">
            <a:avLst/>
          </a:prstGeom>
          <a:solidFill>
            <a:srgbClr val="06C75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👉 エルメ公式サイト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4846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https://lme.jp/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4434840"/>
            <a:ext cx="3931920" cy="914400"/>
          </a:xfrm>
          <a:prstGeom prst="rect">
            <a:avLst/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📘 キャリサポ公式LINE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4846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https://lin.ee/tpWHOuh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0D4F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C85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最強の公式LINE設計ガイド | © キャリサポ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最強の公式LINE設計ガイド</dc:title>
  <dc:subject>PptxGenJS Presentation</dc:subject>
  <dc:creator>キャリサポ</dc:creator>
  <cp:lastModifiedBy>キャリサポ</cp:lastModifiedBy>
  <cp:revision>1</cp:revision>
  <dcterms:created xsi:type="dcterms:W3CDTF">2026-04-10T04:00:29Z</dcterms:created>
  <dcterms:modified xsi:type="dcterms:W3CDTF">2026-04-10T04:00:29Z</dcterms:modified>
</cp:coreProperties>
</file>